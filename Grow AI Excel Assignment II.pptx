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79" r:id="rId2"/>
    <p:sldId id="276" r:id="rId3"/>
    <p:sldId id="264" r:id="rId4"/>
    <p:sldId id="265" r:id="rId5"/>
    <p:sldId id="266" r:id="rId6"/>
    <p:sldId id="267" r:id="rId7"/>
    <p:sldId id="275" r:id="rId8"/>
    <p:sldId id="277" r:id="rId9"/>
    <p:sldId id="273" r:id="rId10"/>
    <p:sldId id="274" r:id="rId11"/>
    <p:sldId id="278" r:id="rId12"/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4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8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5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7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0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08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22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67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10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1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8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63030E3-1148-94A0-0C49-0DDA49CEC01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8720" t="-4117" r="-3431" b="-1"/>
          <a:stretch/>
        </p:blipFill>
        <p:spPr>
          <a:xfrm>
            <a:off x="4773170" y="2956198"/>
            <a:ext cx="3105974" cy="2683826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D694F-A04D-9C7A-AF03-659BB6AD8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496" y="2203450"/>
            <a:ext cx="3831336" cy="2451100"/>
          </a:xfrm>
        </p:spPr>
        <p:txBody>
          <a:bodyPr/>
          <a:lstStyle/>
          <a:p>
            <a:r>
              <a:rPr lang="en-US" sz="4800" b="1" i="0" dirty="0">
                <a:solidFill>
                  <a:schemeClr val="bg1"/>
                </a:solidFill>
                <a:effectLst/>
                <a:latin typeface="+mj-lt"/>
              </a:rPr>
              <a:t>Excel Assignment II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D777E-0FF4-A890-020F-91B69A54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57" y="932934"/>
            <a:ext cx="1824195" cy="182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8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82EF-76B5-CBB9-FA19-90DD21E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1082546"/>
            <a:ext cx="6343672" cy="709865"/>
          </a:xfrm>
        </p:spPr>
        <p:txBody>
          <a:bodyPr/>
          <a:lstStyle/>
          <a:p>
            <a:r>
              <a:rPr lang="en-US" sz="3600" b="1" i="0" dirty="0">
                <a:effectLst/>
              </a:rPr>
              <a:t>Analytical Questions</a:t>
            </a:r>
            <a:br>
              <a:rPr lang="en-US" b="1" i="0" dirty="0">
                <a:solidFill>
                  <a:srgbClr val="1D2125"/>
                </a:solidFill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81B1D-EA0A-CFBF-62A0-E8810E736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70" y="2745232"/>
            <a:ext cx="6734282" cy="3530600"/>
          </a:xfrm>
        </p:spPr>
        <p:txBody>
          <a:bodyPr>
            <a:normAutofit/>
          </a:bodyPr>
          <a:lstStyle/>
          <a:p>
            <a:pPr algn="l"/>
            <a:r>
              <a:rPr lang="en-US" sz="2800" b="0" i="0" dirty="0">
                <a:solidFill>
                  <a:srgbClr val="1D2125"/>
                </a:solidFill>
                <a:effectLst/>
                <a:latin typeface="+mj-lt"/>
              </a:rPr>
              <a:t>Next five questions on analytical questions using </a:t>
            </a:r>
            <a:r>
              <a:rPr lang="en-US" sz="2800" b="1" i="0" dirty="0">
                <a:solidFill>
                  <a:srgbClr val="1D2125"/>
                </a:solidFill>
                <a:effectLst/>
                <a:latin typeface="+mj-lt"/>
              </a:rPr>
              <a:t>Pivot Tables</a:t>
            </a:r>
            <a:r>
              <a:rPr lang="en-US" sz="2800" b="0" i="0" dirty="0">
                <a:solidFill>
                  <a:srgbClr val="1D2125"/>
                </a:solidFill>
                <a:effectLst/>
                <a:latin typeface="+mj-lt"/>
              </a:rPr>
              <a:t> in Excel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433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</a:t>
            </a:r>
            <a:r>
              <a:rPr lang="en-US"/>
              <a:t>1</a:t>
            </a:r>
            <a:r>
              <a:t>: Avg Credit Score by Geography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pivot tables, it was observed that the average credit score differs slightly among France, Germany, and Spain. France has the highest average.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82" y="808057"/>
            <a:ext cx="6974946" cy="1077229"/>
          </a:xfrm>
        </p:spPr>
        <p:txBody>
          <a:bodyPr>
            <a:normAutofit/>
          </a:bodyPr>
          <a:lstStyle/>
          <a:p>
            <a:r>
              <a:rPr dirty="0"/>
              <a:t>Q</a:t>
            </a:r>
            <a:r>
              <a:rPr lang="en-US" dirty="0"/>
              <a:t>2</a:t>
            </a:r>
            <a:r>
              <a:rPr dirty="0"/>
              <a:t>: Balance by Gender &amp; Geography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Pivot tables show that within each country, males and females have slightly different average balances. This might be used to personalize banking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</a:t>
            </a:r>
            <a:r>
              <a:rPr lang="en-US"/>
              <a:t>3</a:t>
            </a:r>
            <a:r>
              <a:t>: Active vs Non-Active by Credit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Distribution tables show most credit card holders are active, suggesting a correlation between credit usage and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</a:t>
            </a:r>
            <a:r>
              <a:rPr lang="en-US"/>
              <a:t>4</a:t>
            </a:r>
            <a:r>
              <a:t>: Churn Rate per Products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Higher churn rates were observed in customers with fewer products. Retaining customers with only one product is crucial.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Q</a:t>
            </a:r>
            <a:r>
              <a:rPr lang="en-US">
                <a:sym typeface="+mn-ea"/>
              </a:rPr>
              <a:t>5</a:t>
            </a:r>
            <a:r>
              <a:rPr>
                <a:sym typeface="+mn-ea"/>
              </a:rPr>
              <a:t>:</a:t>
            </a:r>
            <a:r>
              <a:rPr lang="en-US">
                <a:sym typeface="+mn-ea"/>
              </a:rPr>
              <a:t> </a:t>
            </a:r>
            <a:r>
              <a:t>Avg Credit Score by Tenure: Exited vs Stayed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Question: What is the average credit score for customers who have exited compared to those who have stayed, across different tenure levels?</a:t>
            </a:r>
          </a:p>
          <a:p>
            <a:endParaRPr dirty="0"/>
          </a:p>
          <a:p>
            <a:r>
              <a:rPr dirty="0"/>
              <a:t>Approach: A pivot table was used in Excel with 'Tenure' as rows, and '</a:t>
            </a:r>
            <a:r>
              <a:rPr dirty="0" err="1"/>
              <a:t>CreditScore</a:t>
            </a:r>
            <a:r>
              <a:rPr dirty="0"/>
              <a:t>' as values.</a:t>
            </a:r>
          </a:p>
          <a:p>
            <a:r>
              <a:rPr dirty="0"/>
              <a:t>The data was split into two columns — one for exited customers (Churn=1) and one for those who stayed (Churn=0).</a:t>
            </a:r>
          </a:p>
          <a:p>
            <a:endParaRPr dirty="0"/>
          </a:p>
          <a:p>
            <a:r>
              <a:rPr dirty="0"/>
              <a:t>Observation: Credit score values fluctuate across different tenure values, but no consistent trend clearly differentiates exited and active customers.</a:t>
            </a:r>
          </a:p>
          <a:p>
            <a:r>
              <a:rPr dirty="0"/>
              <a:t>In many cases, the differences are minor, suggesting that tenure alone, in combination with credit score, does not strongly predict churn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ED04-1B80-21A9-97A5-3AB7D7C8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1" y="1399032"/>
            <a:ext cx="6933391" cy="3209544"/>
          </a:xfrm>
        </p:spPr>
        <p:txBody>
          <a:bodyPr/>
          <a:lstStyle/>
          <a:p>
            <a:r>
              <a:rPr lang="en-US" sz="3600" b="0" i="0" dirty="0">
                <a:effectLst/>
              </a:rPr>
              <a:t>Next two questions on research questions using </a:t>
            </a:r>
            <a:r>
              <a:rPr lang="en-US" sz="3600" b="1" i="0" dirty="0">
                <a:effectLst/>
              </a:rPr>
              <a:t>Data Analysis </a:t>
            </a:r>
            <a:r>
              <a:rPr lang="en-US" sz="3600" b="1" i="0" dirty="0" err="1">
                <a:effectLst/>
              </a:rPr>
              <a:t>ToolPak</a:t>
            </a:r>
            <a:r>
              <a:rPr lang="en-US" sz="3600" b="0" i="0" dirty="0">
                <a:effectLst/>
              </a:rPr>
              <a:t> in Excel</a:t>
            </a:r>
            <a:br>
              <a:rPr lang="en-US" sz="3200" b="0" i="0" dirty="0">
                <a:effectLst/>
              </a:rPr>
            </a:br>
            <a:br>
              <a:rPr lang="en-US" sz="3200" b="0" i="0" dirty="0">
                <a:effectLst/>
              </a:rPr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96255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285" y="396746"/>
            <a:ext cx="8049430" cy="2227582"/>
          </a:xfrm>
        </p:spPr>
        <p:txBody>
          <a:bodyPr/>
          <a:lstStyle/>
          <a:p>
            <a:r>
              <a:rPr lang="en-US" sz="2400" dirty="0">
                <a:sym typeface="+mn-ea"/>
              </a:rPr>
              <a:t>Q1: </a:t>
            </a:r>
            <a:r>
              <a:rPr lang="en-US" sz="2400" b="0" i="0" dirty="0">
                <a:effectLst/>
              </a:rPr>
              <a:t>Is there any significant difference in customers' average earning between churned and not-churned?</a:t>
            </a:r>
            <a:br>
              <a:rPr lang="en-US" sz="2400" b="0" i="0" dirty="0">
                <a:effectLst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Is there any significant difference in customers' average earning between churned and not-churned?</a:t>
            </a:r>
          </a:p>
          <a:p>
            <a:endParaRPr/>
          </a:p>
          <a:p>
            <a:r>
              <a:t>Analysis: A two-sample t-test was performed using the Data Analysis ToolPak in Excel.</a:t>
            </a:r>
          </a:p>
          <a:p>
            <a:r>
              <a:t>Result: The p-value was 0.42, which is greater than the significance level of 0.05.</a:t>
            </a:r>
          </a:p>
          <a:p>
            <a:r>
              <a:t>Conclusion: There is no statistically significant difference in the average earnings between churned and not-churned customers.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642" y="515618"/>
            <a:ext cx="7784254" cy="1852678"/>
          </a:xfrm>
        </p:spPr>
        <p:txBody>
          <a:bodyPr/>
          <a:lstStyle/>
          <a:p>
            <a:r>
              <a:rPr sz="2400" dirty="0">
                <a:sym typeface="+mn-ea"/>
              </a:rPr>
              <a:t>Q</a:t>
            </a:r>
            <a:r>
              <a:rPr lang="en-US" sz="2400" dirty="0">
                <a:sym typeface="+mn-ea"/>
              </a:rPr>
              <a:t>2</a:t>
            </a:r>
            <a:r>
              <a:rPr sz="2400" dirty="0">
                <a:sym typeface="+mn-ea"/>
              </a:rPr>
              <a:t>:</a:t>
            </a:r>
            <a:r>
              <a:rPr lang="en-US" sz="2400" dirty="0">
                <a:sym typeface="+mn-ea"/>
              </a:rPr>
              <a:t> </a:t>
            </a:r>
            <a:r>
              <a:rPr lang="en-US" sz="2400" b="0" i="0" dirty="0">
                <a:effectLst/>
              </a:rPr>
              <a:t>Is there any significant difference in customers' average credit scores among customers' geographic location?</a:t>
            </a:r>
            <a:br>
              <a:rPr lang="en-US" b="0" i="0" dirty="0">
                <a:solidFill>
                  <a:srgbClr val="1D2125"/>
                </a:solidFill>
                <a:effectLst/>
                <a:latin typeface="-apple-system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Is there any significant difference in customers' average credit scores among customers' geographic location?</a:t>
            </a:r>
          </a:p>
          <a:p>
            <a:endParaRPr/>
          </a:p>
          <a:p>
            <a:r>
              <a:t>Analysis: A one-way ANOVA test was conducted using the Data Analysis ToolPak in Excel.</a:t>
            </a:r>
          </a:p>
          <a:p>
            <a:r>
              <a:t>Result: The p-value was 0.37, which is greater than the significance level of 0.05.</a:t>
            </a:r>
          </a:p>
          <a:p>
            <a:r>
              <a:t>Conclusion: There is no statistically significant difference in average credit scores among different geographic locations.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93B0-C08E-EC30-4198-CFB06F64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2057400"/>
            <a:ext cx="6896816" cy="2095500"/>
          </a:xfrm>
        </p:spPr>
        <p:txBody>
          <a:bodyPr/>
          <a:lstStyle/>
          <a:p>
            <a:r>
              <a:rPr lang="en-US" sz="4800" b="1" i="0" dirty="0">
                <a:effectLst/>
              </a:rPr>
              <a:t>Next 10 Questions are for this assignment</a:t>
            </a:r>
            <a:br>
              <a:rPr lang="en-US" b="1" i="0" dirty="0">
                <a:solidFill>
                  <a:srgbClr val="1D2125"/>
                </a:solidFill>
                <a:effectLst/>
                <a:latin typeface="-apple-system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0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Missing 'EstimatedSalary'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3 missing values in the 'EstimatedSalary' column. These missing values were handled by replacing them with the average salary of the dataset to maintain data consistency.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Avg Balance (excluding inconsistent)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average balance after excluding the inconsistent value (-1) is 128,388.87. This helps in reflecting a more accurate financial status of the customers.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Avg Credit Score - Germany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average credit score of customers from Germany is 579.69. This metric helps us assess the credit reliability of customers from that region.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Avg Balance - Male, 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Male customers from France have an average balance of 133,204.76. This value may influence customer retention strategies.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Q5: Churned w/ Credit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 of all customers who have a credit card, 131 of them have churned. This suggests that simply holding a credit card may not ensure loyalty.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Q6: Stayed with 3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Among customers using 3 products, 53 did not churn. A higher number of products used may suggest a lower churn 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Q7: Credit Score, Churned, Tenure=1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Churned customers with a tenure of 1 year have an average credit score of 616.83. This could indicate early dissatisfaction among customers with reasonable credit standing.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Q8: Avg Salary of Churned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average estimated salary of churned customers is 83,428.09. Salaries do not seem to be a strong indicator of churn in this dataset.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</a:t>
            </a:r>
            <a:r>
              <a:rPr lang="en-US"/>
              <a:t>9</a:t>
            </a:r>
            <a:r>
              <a:t>: Research Q1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is no significant difference in customers' average earnings between churned and not-churned groups, indicating salary is not a major churn factor.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</a:t>
            </a:r>
            <a:r>
              <a:rPr lang="en-US"/>
              <a:t>0</a:t>
            </a:r>
            <a:r>
              <a:t>: Research Q2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is no significant difference in average credit scores across geographic regions, so geography does not seem to influence creditworthiness significantly.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31</TotalTime>
  <Words>796</Words>
  <Application>Microsoft Office PowerPoint</Application>
  <PresentationFormat>On-screen Show (4:3)</PresentationFormat>
  <Paragraphs>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-apple-system</vt:lpstr>
      <vt:lpstr>Arial</vt:lpstr>
      <vt:lpstr>Century Gothic</vt:lpstr>
      <vt:lpstr>Wingdings 3</vt:lpstr>
      <vt:lpstr>Ion Boardroom</vt:lpstr>
      <vt:lpstr>PowerPoint Presentation</vt:lpstr>
      <vt:lpstr>Analytical Questions </vt:lpstr>
      <vt:lpstr>Q1: Avg Credit Score by Geography</vt:lpstr>
      <vt:lpstr>Q2: Balance by Gender &amp; Geography</vt:lpstr>
      <vt:lpstr>Q3: Active vs Non-Active by Credit Card</vt:lpstr>
      <vt:lpstr>Q4: Churn Rate per Products Used</vt:lpstr>
      <vt:lpstr>Q5: Avg Credit Score by Tenure: Exited vs Stayed</vt:lpstr>
      <vt:lpstr>Next two questions on research questions using Data Analysis ToolPak in Excel  </vt:lpstr>
      <vt:lpstr>Q1: Is there any significant difference in customers' average earning between churned and not-churned? </vt:lpstr>
      <vt:lpstr>Q2: Is there any significant difference in customers' average credit scores among customers' geographic location? </vt:lpstr>
      <vt:lpstr>Next 10 Questions are for this assignment </vt:lpstr>
      <vt:lpstr>Q1: Missing 'EstimatedSalary'</vt:lpstr>
      <vt:lpstr>Q2: Avg Balance (excluding inconsistent)</vt:lpstr>
      <vt:lpstr>Q3: Avg Credit Score - Germany</vt:lpstr>
      <vt:lpstr>Q4: Avg Balance - Male, France</vt:lpstr>
      <vt:lpstr>Q5: Churned w/ Credit Card</vt:lpstr>
      <vt:lpstr>Q6: Stayed with 3 Products</vt:lpstr>
      <vt:lpstr>Q7: Credit Score, Churned, Tenure=1</vt:lpstr>
      <vt:lpstr>Q8: Avg Salary of Churned</vt:lpstr>
      <vt:lpstr>Q9: Research Q1 Conclusion</vt:lpstr>
      <vt:lpstr>Q10: Research Q2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Sandeep Kandula</cp:lastModifiedBy>
  <cp:revision>4</cp:revision>
  <dcterms:created xsi:type="dcterms:W3CDTF">2013-01-27T09:14:00Z</dcterms:created>
  <dcterms:modified xsi:type="dcterms:W3CDTF">2025-04-30T11:45:38Z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BAF7D7E4DDED4BD796BB7A0D8928E93E_13</vt:lpwstr>
  </property>
  <property fmtid="{D5CDD505-2E9C-101B-9397-08002B2CF9AE}" pid="3" name="KSOProductBuildVer">
    <vt:lpwstr>1033-12.2.0.20795</vt:lpwstr>
  </property>
</Properties>
</file>